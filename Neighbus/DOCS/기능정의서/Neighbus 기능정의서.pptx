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8" r:id="rId4"/>
    <p:sldId id="266" r:id="rId5"/>
    <p:sldId id="262" r:id="rId6"/>
    <p:sldId id="260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9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48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5.pn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10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953000"/>
            <a:ext cx="1428750" cy="142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409700"/>
            <a:ext cx="95250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3267075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5025" y="3476625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219700"/>
            <a:ext cx="10363200" cy="10287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914400" y="762000"/>
            <a:ext cx="1036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Neighbus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기능정의서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914400" y="1771650"/>
            <a:ext cx="12435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Membership Registration Screen Functional Specification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914400" y="5715000"/>
            <a:ext cx="17768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endParaRPr lang="en-US" sz="1350" dirty="0"/>
          </a:p>
        </p:txBody>
      </p:sp>
      <p:sp>
        <p:nvSpPr>
          <p:cNvPr id="14" name="Text 3"/>
          <p:cNvSpPr/>
          <p:nvPr/>
        </p:nvSpPr>
        <p:spPr>
          <a:xfrm>
            <a:off x="914400" y="5981700"/>
            <a:ext cx="17768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2025년도 2학기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9560272" y="5448300"/>
            <a:ext cx="17173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제출자: </a:t>
            </a:r>
            <a:r>
              <a:rPr lang="ko-KR" alt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김기현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9216807" y="5715000"/>
            <a:ext cx="20607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제출일:2025.11.02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63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5434013"/>
            <a:ext cx="28956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19363"/>
            <a:ext cx="5638800" cy="2628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786063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814763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4119562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4424363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4729163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회원가입 화면 소개</a:t>
            </a:r>
            <a:endParaRPr lang="en-US" sz="2250" dirty="0"/>
          </a:p>
        </p:txBody>
      </p:sp>
      <p:sp>
        <p:nvSpPr>
          <p:cNvPr id="36" name="Text 14"/>
          <p:cNvSpPr/>
          <p:nvPr/>
        </p:nvSpPr>
        <p:spPr>
          <a:xfrm>
            <a:off x="6591300" y="2747963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화면의 목적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6324600" y="3167063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회원가입 화면은 신규 사용자들이 서비스에 가입할 수 있도록 정보를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입력받는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중대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한 화면입니다.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6553200" y="3776662"/>
            <a:ext cx="36492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사용자의 개인정보를 체계적으로 수집합니다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553200" y="4081463"/>
            <a:ext cx="33414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입력된 정보에 대한 유효성을 검증합니다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6553200" y="4386263"/>
            <a:ext cx="37252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중복된 정보(아이디,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이메일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등)를 방지합니다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6553200" y="4691063"/>
            <a:ext cx="39483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사용편의를 위한 적절한 디자인과 레이아웃 제공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457200" y="6486525"/>
            <a:ext cx="18620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회원가입 화면 기능정의서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11435209" y="6486525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2/10</a:t>
            </a:r>
            <a:endParaRPr lang="en-US" sz="105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5C0EFFC3-39E2-4F8E-48A3-A895975519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1168400"/>
            <a:ext cx="5836920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A992-A2CF-454E-FDF5-2473C85A0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34344C-3015-B6D5-EECF-1B4ED08C0EBC}"/>
              </a:ext>
            </a:extLst>
          </p:cNvPr>
          <p:cNvSpPr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dirty="0"/>
              <a:t>메인 페이지 화면 소개</a:t>
            </a:r>
            <a:endParaRPr lang="en-US" altLang="ko-KR" sz="2250" dirty="0"/>
          </a:p>
          <a:p>
            <a:pPr marL="0" indent="0">
              <a:lnSpc>
                <a:spcPts val="2700"/>
              </a:lnSpc>
              <a:buNone/>
            </a:pPr>
            <a:endParaRPr lang="en-US" altLang="ko-KR" sz="2250" dirty="0"/>
          </a:p>
          <a:p>
            <a:pPr marL="0" indent="0">
              <a:lnSpc>
                <a:spcPts val="2700"/>
              </a:lnSpc>
              <a:buNone/>
            </a:pPr>
            <a:r>
              <a:rPr lang="ko-KR" altLang="en-US" sz="2250" dirty="0"/>
              <a:t> </a:t>
            </a:r>
            <a:endParaRPr lang="en-US" sz="225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F628B16-54A5-1AA6-0B73-0B235B08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6300"/>
            <a:ext cx="762000" cy="38100"/>
          </a:xfrm>
          <a:prstGeom prst="rect">
            <a:avLst/>
          </a:prstGeom>
        </p:spPr>
      </p:pic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0C5AE9CC-D6BF-D052-18B1-77EFF962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400" y="1314450"/>
            <a:ext cx="223370" cy="297827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0E1EB84B-E2EE-9BEB-6758-B6A03C964F3E}"/>
              </a:ext>
            </a:extLst>
          </p:cNvPr>
          <p:cNvSpPr/>
          <p:nvPr/>
        </p:nvSpPr>
        <p:spPr>
          <a:xfrm>
            <a:off x="7015690" y="1321423"/>
            <a:ext cx="4389120" cy="2978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dirty="0"/>
              <a:t>메인 페이지 화면 구성요소</a:t>
            </a:r>
            <a:endParaRPr lang="en-US" sz="1800" dirty="0"/>
          </a:p>
        </p:txBody>
      </p:sp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CC3D2E89-7384-4485-1495-E72450D0D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60" y="1771650"/>
            <a:ext cx="5360870" cy="85625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CB88B268-F1D2-5F4B-DE61-4F69C83FF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550" y="1866900"/>
            <a:ext cx="167527" cy="26059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B11069E6-404B-D5F6-DD51-5CA2AB8AD70A}"/>
              </a:ext>
            </a:extLst>
          </p:cNvPr>
          <p:cNvSpPr/>
          <p:nvPr/>
        </p:nvSpPr>
        <p:spPr>
          <a:xfrm>
            <a:off x="7015690" y="1847850"/>
            <a:ext cx="4657256" cy="683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600" b="1" spc="-160" dirty="0">
                <a:solidFill>
                  <a:srgbClr val="312E81"/>
                </a:solidFill>
                <a:latin typeface="Malgun Gothic"/>
                <a:cs typeface="Malgun Gothic"/>
              </a:rPr>
              <a:t>프로필 </a:t>
            </a:r>
            <a:r>
              <a:rPr lang="ko-KR" altLang="en-US" sz="1600" b="1" spc="-390" dirty="0">
                <a:solidFill>
                  <a:srgbClr val="312E81"/>
                </a:solidFill>
                <a:latin typeface="Malgun Gothic"/>
                <a:cs typeface="Malgun Gothic"/>
              </a:rPr>
              <a:t>수정</a:t>
            </a:r>
            <a:r>
              <a:rPr lang="ko-KR" altLang="en-US" sz="1600" b="1" spc="29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25" dirty="0">
                <a:solidFill>
                  <a:srgbClr val="312E81"/>
                </a:solidFill>
                <a:latin typeface="Malgun Gothic"/>
                <a:cs typeface="Malgun Gothic"/>
              </a:rPr>
              <a:t>이</a:t>
            </a:r>
            <a:r>
              <a:rPr lang="ko-KR" altLang="en-US" sz="1600" b="1" spc="-215" dirty="0">
                <a:solidFill>
                  <a:srgbClr val="312E81"/>
                </a:solidFill>
                <a:latin typeface="Malgun Gothic"/>
                <a:cs typeface="Malgun Gothic"/>
              </a:rPr>
              <a:t>동</a:t>
            </a:r>
            <a:r>
              <a:rPr lang="ko-KR" altLang="en-US" sz="1600" b="1" spc="-7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15" dirty="0">
                <a:solidFill>
                  <a:srgbClr val="312E81"/>
                </a:solidFill>
                <a:latin typeface="Malgun Gothic"/>
                <a:cs typeface="Malgun Gothic"/>
              </a:rPr>
              <a:t>기능</a:t>
            </a:r>
            <a:endParaRPr lang="en-US" altLang="ko-KR" sz="1600" b="1" spc="-215" dirty="0">
              <a:solidFill>
                <a:srgbClr val="312E81"/>
              </a:solidFill>
              <a:latin typeface="Malgun Gothic"/>
              <a:cs typeface="Malgun Gothic"/>
            </a:endParaRPr>
          </a:p>
          <a:p>
            <a:pPr>
              <a:lnSpc>
                <a:spcPts val="2100"/>
              </a:lnSpc>
            </a:pP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사용자가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프로필</a:t>
            </a:r>
            <a:r>
              <a:rPr lang="ko-KR" altLang="en-US" sz="1600" spc="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18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정보를</a:t>
            </a:r>
            <a:r>
              <a:rPr lang="ko-KR" altLang="en-US" sz="1600" spc="50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수정할</a:t>
            </a:r>
            <a:r>
              <a:rPr lang="ko-KR" altLang="en-US" sz="1600" spc="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수</a:t>
            </a:r>
            <a:r>
              <a:rPr lang="ko-KR" altLang="en-US" sz="1600" spc="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있는</a:t>
            </a:r>
            <a:r>
              <a:rPr lang="ko-KR" altLang="en-US" sz="1600" spc="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페이지</a:t>
            </a:r>
            <a:r>
              <a:rPr lang="ko-KR" altLang="en-US" sz="1600" spc="-2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로</a:t>
            </a:r>
            <a:r>
              <a:rPr lang="ko-KR" altLang="en-US" sz="1600" spc="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3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이동</a:t>
            </a:r>
            <a:endParaRPr lang="ko-KR" altLang="en-US" sz="1600" dirty="0">
              <a:latin typeface="Malgun Gothic Semilight"/>
              <a:cs typeface="Malgun Gothic Semilight"/>
            </a:endParaRPr>
          </a:p>
          <a:p>
            <a:pPr>
              <a:lnSpc>
                <a:spcPts val="2100"/>
              </a:lnSpc>
            </a:pPr>
            <a:endParaRPr lang="ko-KR" altLang="en-US" sz="1600" dirty="0">
              <a:latin typeface="Malgun Gothic"/>
              <a:cs typeface="Malgun Gothic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0911C709-4F00-1661-4CFA-382EDC29D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60" y="2900560"/>
            <a:ext cx="5360870" cy="856250"/>
          </a:xfrm>
          <a:prstGeom prst="rect">
            <a:avLst/>
          </a:prstGeom>
        </p:spPr>
      </p:pic>
      <p:pic>
        <p:nvPicPr>
          <p:cNvPr id="17" name="Image 18" descr="preencoded.png">
            <a:extLst>
              <a:ext uri="{FF2B5EF4-FFF2-40B4-BE49-F238E27FC236}">
                <a16:creationId xmlns:a16="http://schemas.microsoft.com/office/drawing/2014/main" id="{AFE6B32B-600D-E22D-264A-CF00B79B9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550" y="2900560"/>
            <a:ext cx="148913" cy="260598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55DF37F3-C0D9-856A-4728-E7B6B37F61B1}"/>
              </a:ext>
            </a:extLst>
          </p:cNvPr>
          <p:cNvSpPr/>
          <p:nvPr/>
        </p:nvSpPr>
        <p:spPr>
          <a:xfrm>
            <a:off x="7019500" y="2948185"/>
            <a:ext cx="4657256" cy="683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알림</a:t>
            </a:r>
            <a:r>
              <a:rPr lang="ko-KR" altLang="en-US" sz="1600" b="1" spc="-80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10" dirty="0">
                <a:solidFill>
                  <a:srgbClr val="312E81"/>
                </a:solidFill>
                <a:latin typeface="Malgun Gothic"/>
                <a:cs typeface="Malgun Gothic"/>
              </a:rPr>
              <a:t>설정</a:t>
            </a:r>
            <a:r>
              <a:rPr lang="ko-KR" altLang="en-US" sz="1600" b="1" spc="-80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이동</a:t>
            </a:r>
            <a:r>
              <a:rPr lang="ko-KR" altLang="en-US" sz="1600" b="1" spc="-7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기능</a:t>
            </a:r>
            <a:endParaRPr lang="en-US" altLang="ko-KR" sz="1600" b="1" spc="-215" dirty="0">
              <a:solidFill>
                <a:srgbClr val="312E81"/>
              </a:solidFill>
              <a:latin typeface="Malgun Gothic"/>
              <a:cs typeface="Malgun Gothic"/>
            </a:endParaRPr>
          </a:p>
          <a:p>
            <a:pPr>
              <a:lnSpc>
                <a:spcPts val="2100"/>
              </a:lnSpc>
            </a:pP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사용자가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알림</a:t>
            </a:r>
            <a:r>
              <a:rPr lang="ko-KR" altLang="en-US" sz="1600" spc="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9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설정을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변경할</a:t>
            </a:r>
            <a:r>
              <a:rPr lang="ko-KR" altLang="en-US" sz="1600" spc="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수</a:t>
            </a:r>
            <a:r>
              <a:rPr lang="ko-KR" altLang="en-US" sz="1600" spc="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있는</a:t>
            </a:r>
            <a:r>
              <a:rPr lang="ko-KR" altLang="en-US" sz="1600" spc="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19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페이지</a:t>
            </a:r>
            <a:r>
              <a:rPr lang="ko-KR" altLang="en-US" sz="1600" spc="-2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로</a:t>
            </a:r>
            <a:r>
              <a:rPr lang="ko-KR" altLang="en-US" sz="1600" spc="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3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이동</a:t>
            </a:r>
            <a:endParaRPr lang="ko-KR" altLang="en-US" sz="1600" dirty="0">
              <a:latin typeface="Malgun Gothic Semilight"/>
              <a:cs typeface="Malgun Gothic Semilight"/>
            </a:endParaRPr>
          </a:p>
          <a:p>
            <a:pPr>
              <a:lnSpc>
                <a:spcPts val="2100"/>
              </a:lnSpc>
            </a:pPr>
            <a:endParaRPr lang="ko-KR" altLang="en-US" sz="1600" dirty="0">
              <a:latin typeface="Malgun Gothic"/>
              <a:cs typeface="Malgun Gothic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20" name="Image 11" descr="preencoded.png">
            <a:extLst>
              <a:ext uri="{FF2B5EF4-FFF2-40B4-BE49-F238E27FC236}">
                <a16:creationId xmlns:a16="http://schemas.microsoft.com/office/drawing/2014/main" id="{046B12EA-05D1-A29E-1DCA-2BB55FAE1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60" y="3992520"/>
            <a:ext cx="5360870" cy="856250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0F7240F7-1290-EF11-5F9A-EBD9D46C8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550" y="3983390"/>
            <a:ext cx="167527" cy="260598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A8B93CDE-1E36-4984-0698-63F3114E5F17}"/>
              </a:ext>
            </a:extLst>
          </p:cNvPr>
          <p:cNvSpPr/>
          <p:nvPr/>
        </p:nvSpPr>
        <p:spPr>
          <a:xfrm>
            <a:off x="7019500" y="4040145"/>
            <a:ext cx="4657256" cy="683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600" b="1" spc="-160" dirty="0">
                <a:solidFill>
                  <a:srgbClr val="312E81"/>
                </a:solidFill>
                <a:latin typeface="Malgun Gothic"/>
                <a:cs typeface="Malgun Gothic"/>
              </a:rPr>
              <a:t>로그아</a:t>
            </a:r>
            <a:r>
              <a:rPr lang="ko-KR" altLang="en-US" sz="1600" b="1" spc="-215" dirty="0">
                <a:solidFill>
                  <a:srgbClr val="312E81"/>
                </a:solidFill>
                <a:latin typeface="Malgun Gothic"/>
                <a:cs typeface="Malgun Gothic"/>
              </a:rPr>
              <a:t>웃</a:t>
            </a:r>
            <a:r>
              <a:rPr lang="ko-KR" altLang="en-US" sz="1600" b="1" spc="-7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15" dirty="0">
                <a:solidFill>
                  <a:srgbClr val="312E81"/>
                </a:solidFill>
                <a:latin typeface="Malgun Gothic"/>
                <a:cs typeface="Malgun Gothic"/>
              </a:rPr>
              <a:t>기능</a:t>
            </a:r>
            <a:endParaRPr lang="ko-KR" altLang="en-US" sz="1600" dirty="0">
              <a:latin typeface="Malgun Gothic"/>
              <a:cs typeface="Malgun Gothic"/>
            </a:endParaRPr>
          </a:p>
          <a:p>
            <a:pPr>
              <a:lnSpc>
                <a:spcPts val="2100"/>
              </a:lnSpc>
            </a:pP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현재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사용자의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인증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17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세</a:t>
            </a:r>
            <a:r>
              <a:rPr lang="ko-KR" altLang="en-US" sz="1600" spc="50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션을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종료하고</a:t>
            </a:r>
            <a:r>
              <a:rPr lang="ko-KR" altLang="en-US" sz="1600" spc="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9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로그인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페이지로</a:t>
            </a:r>
            <a:r>
              <a:rPr lang="ko-KR" altLang="en-US" sz="1600" spc="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이동</a:t>
            </a:r>
            <a:endParaRPr lang="ko-KR" altLang="en-US" sz="1600" dirty="0">
              <a:latin typeface="Malgun Gothic Semilight"/>
              <a:cs typeface="Malgun Gothic Semilight"/>
            </a:endParaRPr>
          </a:p>
          <a:p>
            <a:pPr>
              <a:lnSpc>
                <a:spcPts val="2100"/>
              </a:lnSpc>
            </a:pPr>
            <a:endParaRPr lang="ko-KR" altLang="en-US" sz="1600" dirty="0">
              <a:latin typeface="Malgun Gothic"/>
              <a:cs typeface="Malgun Gothic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23" name="Image 11" descr="preencoded.png">
            <a:extLst>
              <a:ext uri="{FF2B5EF4-FFF2-40B4-BE49-F238E27FC236}">
                <a16:creationId xmlns:a16="http://schemas.microsoft.com/office/drawing/2014/main" id="{2E105481-E6C8-997E-A6A3-9767F610B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60" y="5110790"/>
            <a:ext cx="5360870" cy="856250"/>
          </a:xfrm>
          <a:prstGeom prst="rect">
            <a:avLst/>
          </a:prstGeom>
        </p:spPr>
      </p:pic>
      <p:pic>
        <p:nvPicPr>
          <p:cNvPr id="24" name="Image 14" descr="preencoded.png">
            <a:extLst>
              <a:ext uri="{FF2B5EF4-FFF2-40B4-BE49-F238E27FC236}">
                <a16:creationId xmlns:a16="http://schemas.microsoft.com/office/drawing/2014/main" id="{9BBFBC9C-E4CC-CD12-7868-E641F6A622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025" y="5110790"/>
            <a:ext cx="167527" cy="260598"/>
          </a:xfrm>
          <a:prstGeom prst="rect">
            <a:avLst/>
          </a:prstGeom>
        </p:spPr>
      </p:pic>
      <p:sp>
        <p:nvSpPr>
          <p:cNvPr id="25" name="Text 9">
            <a:extLst>
              <a:ext uri="{FF2B5EF4-FFF2-40B4-BE49-F238E27FC236}">
                <a16:creationId xmlns:a16="http://schemas.microsoft.com/office/drawing/2014/main" id="{771D985E-458F-9B1C-9012-BEA075DE17DB}"/>
              </a:ext>
            </a:extLst>
          </p:cNvPr>
          <p:cNvSpPr/>
          <p:nvPr/>
        </p:nvSpPr>
        <p:spPr>
          <a:xfrm>
            <a:off x="7019500" y="5120315"/>
            <a:ext cx="4657256" cy="683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개인</a:t>
            </a:r>
            <a:r>
              <a:rPr lang="ko-KR" altLang="en-US" sz="1600" b="1" spc="-80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10" dirty="0">
                <a:solidFill>
                  <a:srgbClr val="312E81"/>
                </a:solidFill>
                <a:latin typeface="Malgun Gothic"/>
                <a:cs typeface="Malgun Gothic"/>
              </a:rPr>
              <a:t>정</a:t>
            </a:r>
            <a:r>
              <a:rPr lang="ko-KR" altLang="en-US" sz="1600" b="1" spc="-7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10" dirty="0">
                <a:solidFill>
                  <a:srgbClr val="312E81"/>
                </a:solidFill>
                <a:latin typeface="Malgun Gothic"/>
                <a:cs typeface="Malgun Gothic"/>
              </a:rPr>
              <a:t>보</a:t>
            </a:r>
            <a:r>
              <a:rPr lang="ko-KR" altLang="en-US" sz="1600" b="1" spc="-80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표시</a:t>
            </a:r>
            <a:r>
              <a:rPr lang="ko-KR" altLang="en-US" sz="1600" b="1" spc="-75" dirty="0">
                <a:solidFill>
                  <a:srgbClr val="312E81"/>
                </a:solidFill>
                <a:latin typeface="Malgun Gothic"/>
                <a:cs typeface="Malgun Gothic"/>
              </a:rPr>
              <a:t> </a:t>
            </a:r>
            <a:r>
              <a:rPr lang="ko-KR" altLang="en-US" sz="1600" b="1" spc="-204" dirty="0">
                <a:solidFill>
                  <a:srgbClr val="312E81"/>
                </a:solidFill>
                <a:latin typeface="Malgun Gothic"/>
                <a:cs typeface="Malgun Gothic"/>
              </a:rPr>
              <a:t>기능</a:t>
            </a:r>
            <a:endParaRPr lang="ko-KR" altLang="en-US" sz="1600" dirty="0">
              <a:latin typeface="Malgun Gothic"/>
              <a:cs typeface="Malgun Gothic"/>
            </a:endParaRPr>
          </a:p>
          <a:p>
            <a:pPr>
              <a:lnSpc>
                <a:spcPts val="2100"/>
              </a:lnSpc>
            </a:pP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사용자의</a:t>
            </a:r>
            <a:r>
              <a:rPr lang="ko-KR" altLang="en-US" sz="1600" spc="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개인정보</a:t>
            </a:r>
            <a:r>
              <a:rPr lang="en-US" altLang="ko-KR" sz="1400" spc="-10" dirty="0">
                <a:solidFill>
                  <a:srgbClr val="333333"/>
                </a:solidFill>
                <a:cs typeface="Calibri"/>
              </a:rPr>
              <a:t>(</a:t>
            </a:r>
            <a:r>
              <a:rPr lang="ko-KR" altLang="en-US" sz="1600" spc="-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이</a:t>
            </a:r>
            <a:r>
              <a:rPr lang="ko-KR" altLang="en-US" sz="1600" spc="-6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름</a:t>
            </a:r>
            <a:r>
              <a:rPr lang="en-US" altLang="ko-KR" sz="1400" spc="-65" dirty="0">
                <a:solidFill>
                  <a:srgbClr val="333333"/>
                </a:solidFill>
                <a:cs typeface="Calibri"/>
              </a:rPr>
              <a:t>,</a:t>
            </a:r>
            <a:r>
              <a:rPr lang="ko-KR" altLang="en-US" sz="1400" spc="15" dirty="0">
                <a:solidFill>
                  <a:srgbClr val="333333"/>
                </a:solidFill>
                <a:cs typeface="Calibri"/>
              </a:rPr>
              <a:t> </a:t>
            </a:r>
            <a:r>
              <a:rPr lang="ko-KR" altLang="en-US" sz="1600" spc="-15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아이디</a:t>
            </a:r>
            <a:r>
              <a:rPr lang="en-US" altLang="ko-KR" sz="1400" spc="-150" dirty="0">
                <a:solidFill>
                  <a:srgbClr val="333333"/>
                </a:solidFill>
                <a:cs typeface="Calibri"/>
              </a:rPr>
              <a:t>,</a:t>
            </a:r>
            <a:r>
              <a:rPr lang="ko-KR" altLang="en-US" sz="1400" spc="90" dirty="0">
                <a:solidFill>
                  <a:srgbClr val="333333"/>
                </a:solidFill>
                <a:cs typeface="Calibri"/>
              </a:rPr>
              <a:t> </a:t>
            </a:r>
            <a:r>
              <a:rPr lang="ko-KR" altLang="en-US" sz="1600" spc="-1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생년월일</a:t>
            </a:r>
            <a:r>
              <a:rPr lang="en-US" altLang="ko-KR" sz="1400" spc="-10" dirty="0">
                <a:solidFill>
                  <a:srgbClr val="333333"/>
                </a:solidFill>
                <a:cs typeface="Calibri"/>
              </a:rPr>
              <a:t>, </a:t>
            </a:r>
            <a:r>
              <a:rPr lang="ko-KR" altLang="en-US" sz="1600" spc="-16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전화번호</a:t>
            </a:r>
            <a:r>
              <a:rPr lang="en-US" altLang="ko-KR" sz="1400" spc="-165" dirty="0">
                <a:solidFill>
                  <a:srgbClr val="333333"/>
                </a:solidFill>
                <a:cs typeface="Calibri"/>
              </a:rPr>
              <a:t>,</a:t>
            </a:r>
            <a:r>
              <a:rPr lang="ko-KR" altLang="en-US" sz="1400" spc="105" dirty="0">
                <a:solidFill>
                  <a:srgbClr val="333333"/>
                </a:solidFill>
                <a:cs typeface="Calibri"/>
              </a:rPr>
              <a:t> </a:t>
            </a:r>
            <a:r>
              <a:rPr lang="ko-KR" altLang="en-US" sz="1600" spc="-13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지역</a:t>
            </a:r>
            <a:r>
              <a:rPr lang="en-US" altLang="ko-KR" sz="1400" spc="-135" dirty="0">
                <a:solidFill>
                  <a:srgbClr val="333333"/>
                </a:solidFill>
                <a:cs typeface="Calibri"/>
              </a:rPr>
              <a:t>,</a:t>
            </a:r>
            <a:r>
              <a:rPr lang="ko-KR" altLang="en-US" sz="1400" spc="110" dirty="0">
                <a:solidFill>
                  <a:srgbClr val="333333"/>
                </a:solidFill>
                <a:cs typeface="Calibri"/>
              </a:rPr>
              <a:t> </a:t>
            </a:r>
            <a:r>
              <a:rPr lang="ko-KR" altLang="en-US" sz="1600" spc="-13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닉네임</a:t>
            </a:r>
            <a:r>
              <a:rPr lang="en-US" altLang="ko-KR" sz="1400" spc="-135" dirty="0">
                <a:solidFill>
                  <a:srgbClr val="333333"/>
                </a:solidFill>
                <a:cs typeface="Calibri"/>
              </a:rPr>
              <a:t>)</a:t>
            </a:r>
            <a:r>
              <a:rPr lang="ko-KR" altLang="en-US" sz="1400" spc="500" dirty="0">
                <a:solidFill>
                  <a:srgbClr val="333333"/>
                </a:solidFill>
                <a:cs typeface="Calibri"/>
              </a:rPr>
              <a:t> </a:t>
            </a:r>
            <a:r>
              <a:rPr lang="ko-KR" altLang="en-US" sz="1600" spc="-2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를</a:t>
            </a:r>
            <a:r>
              <a:rPr lang="ko-KR" altLang="en-US" sz="1600" spc="1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04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조회하여</a:t>
            </a:r>
            <a:r>
              <a:rPr lang="ko-KR" altLang="en-US" sz="1600" spc="20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 </a:t>
            </a:r>
            <a:r>
              <a:rPr lang="ko-KR" altLang="en-US" sz="1600" spc="-25" dirty="0">
                <a:solidFill>
                  <a:srgbClr val="333333"/>
                </a:solidFill>
                <a:latin typeface="Malgun Gothic Semilight"/>
                <a:cs typeface="Malgun Gothic Semilight"/>
              </a:rPr>
              <a:t>표시</a:t>
            </a:r>
            <a:endParaRPr lang="ko-KR" altLang="en-US" sz="1600" dirty="0">
              <a:latin typeface="Malgun Gothic Semilight"/>
              <a:cs typeface="Malgun Gothic Semilight"/>
            </a:endParaRPr>
          </a:p>
          <a:p>
            <a:pPr>
              <a:lnSpc>
                <a:spcPts val="2100"/>
              </a:lnSpc>
            </a:pPr>
            <a:endParaRPr lang="ko-KR" altLang="en-US" sz="1600" dirty="0">
              <a:latin typeface="Malgun Gothic"/>
              <a:cs typeface="Malgun Gothic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EEE23E-5CB1-7691-F9B1-596F4F74DB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044" y="1254255"/>
            <a:ext cx="6090497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7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1143000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5049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962150"/>
            <a:ext cx="5486400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11455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990850"/>
            <a:ext cx="5486400" cy="876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1432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19550"/>
            <a:ext cx="5486400" cy="876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17195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5048250"/>
            <a:ext cx="548640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5200650"/>
            <a:ext cx="1524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04800"/>
            <a:ext cx="11430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latin typeface="ui-sans-serif"/>
                <a:ea typeface="Noto Serif KR" pitchFamily="34" charset="-122"/>
                <a:cs typeface="Noto Serif KR" pitchFamily="34" charset="-120"/>
              </a:rPr>
              <a:t>공지사항 목록 화면 구성</a:t>
            </a:r>
            <a:endParaRPr lang="en-US" sz="2700" dirty="0">
              <a:latin typeface="ui-sans-serif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667500" y="150495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구성 요소</a:t>
            </a:r>
            <a:endParaRPr lang="en-US" sz="1800" dirty="0"/>
          </a:p>
        </p:txBody>
      </p:sp>
      <p:sp>
        <p:nvSpPr>
          <p:cNvPr id="30" name="Text 9"/>
          <p:cNvSpPr/>
          <p:nvPr/>
        </p:nvSpPr>
        <p:spPr>
          <a:xfrm>
            <a:off x="6724650" y="21145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공지사항 목록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477000" y="245745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제목, 작성자, 날짜, 중요도에 따른 정렬 및 필터링 기능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724650" y="31432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및 필터링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477000" y="348615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키워드 검색, 날짜 범위 선택, 중요도별 필터링 옵션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724650" y="41719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공지사항 상세보기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6477000" y="451485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선택 시 팝업 또는 새로운 화면에서 내용 확인 가능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6705600" y="52006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ui-sans-serif" pitchFamily="34" charset="0"/>
              </a:rPr>
              <a:t>글쓰기 설정</a:t>
            </a:r>
            <a:endParaRPr lang="en-US" sz="1500" dirty="0"/>
          </a:p>
        </p:txBody>
      </p:sp>
      <p:sp>
        <p:nvSpPr>
          <p:cNvPr id="37" name="Text 16"/>
          <p:cNvSpPr/>
          <p:nvPr/>
        </p:nvSpPr>
        <p:spPr>
          <a:xfrm>
            <a:off x="6477000" y="554355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새 공지사항에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대한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글쓰기　수정　가능　</a:t>
            </a:r>
            <a:endParaRPr 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43DA7C-BDA1-14C9-8E15-C164AAF65B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206" y="1354187"/>
            <a:ext cx="4918585" cy="8762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46A48C-B816-8291-46E1-BEDA7FB739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995" y="2459750"/>
            <a:ext cx="4918585" cy="8573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D9560C-D2B8-B42F-B885-DB279A3B43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996" y="3323609"/>
            <a:ext cx="5117406" cy="2448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199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933700"/>
            <a:ext cx="190500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543300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3815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52197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890" y="1143000"/>
            <a:ext cx="6735961" cy="415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490" y="14097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490" y="1676400"/>
            <a:ext cx="6278761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490" y="2095500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7790" y="219075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4490" y="2095500"/>
            <a:ext cx="34290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8790" y="219075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490" y="20955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0265" y="21907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490" y="2095500"/>
            <a:ext cx="34290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1740" y="21907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7490" y="2095500"/>
            <a:ext cx="3429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13215" y="219075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3490" y="2514600"/>
            <a:ext cx="6278761" cy="1219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03490" y="3886200"/>
            <a:ext cx="6278761" cy="571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883" y="40386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8751" y="4686300"/>
            <a:ext cx="59055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91701" y="4686300"/>
            <a:ext cx="59055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74890" y="5448300"/>
            <a:ext cx="6735961" cy="1295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27290" y="56388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209550"/>
            <a:ext cx="2423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화면 개요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10829925" y="257175"/>
            <a:ext cx="117729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7 / 12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381000" y="1143000"/>
            <a:ext cx="4389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B3F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목적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381000" y="1600200"/>
            <a:ext cx="438909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 및 갤러리 게시물 작성을 위한 공통 인터페이스를 제공하여, 사용자에게 일관된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경험을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50" dirty="0"/>
          </a:p>
        </p:txBody>
      </p:sp>
      <p:sp>
        <p:nvSpPr>
          <p:cNvPr id="32" name="Text 4"/>
          <p:cNvSpPr/>
          <p:nvPr/>
        </p:nvSpPr>
        <p:spPr>
          <a:xfrm>
            <a:off x="381000" y="2438400"/>
            <a:ext cx="4389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B3F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UI 요소</a:t>
            </a:r>
            <a:endParaRPr lang="en-US" sz="1800" dirty="0"/>
          </a:p>
        </p:txBody>
      </p:sp>
      <p:sp>
        <p:nvSpPr>
          <p:cNvPr id="33" name="Text 5"/>
          <p:cNvSpPr/>
          <p:nvPr/>
        </p:nvSpPr>
        <p:spPr>
          <a:xfrm>
            <a:off x="685800" y="2895600"/>
            <a:ext cx="3409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입력 필드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685800" y="3124200"/>
            <a:ext cx="4091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게시물의 제목을 입력하는 필드로, 상단에 위치합니다.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666750" y="3505200"/>
            <a:ext cx="4103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입력 에디터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666750" y="3733800"/>
            <a:ext cx="41033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서식 도구 모음과 함께 상세 텍스트를 입력하는 영역입니다.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685800" y="4343400"/>
            <a:ext cx="4084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첨부 영역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685800" y="4572000"/>
            <a:ext cx="40842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이미지, 문서 등 파일을 업로드하는 영역으로, 클립 아이콘과 함께 표시됩니다.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66750" y="5181600"/>
            <a:ext cx="4103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등록/취소 버튼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666750" y="5410200"/>
            <a:ext cx="41033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게시물 저장 또는 작성을 취소하는 버튼으로, 화면 하단에 나란히 배치됩니다.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5513040" y="1371600"/>
            <a:ext cx="342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5303490" y="1676400"/>
            <a:ext cx="6278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제목을 입력하세요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5379690" y="2590800"/>
            <a:ext cx="61263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내용을 입력하세요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7323683" y="4057650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파일을 첨부하거나 여기에 드래그하세요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10372576" y="4762500"/>
            <a:ext cx="342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11115526" y="4762500"/>
            <a:ext cx="342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5455890" y="5600700"/>
            <a:ext cx="64311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특징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5265390" y="5905500"/>
            <a:ext cx="63930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파스텔 톤의 심플한 디자인으로 직관적인 사용성을 제공</a:t>
            </a:r>
            <a:endParaRPr lang="en-US" sz="1200" dirty="0"/>
          </a:p>
        </p:txBody>
      </p:sp>
      <p:sp>
        <p:nvSpPr>
          <p:cNvPr id="49" name="Text 21"/>
          <p:cNvSpPr/>
          <p:nvPr/>
        </p:nvSpPr>
        <p:spPr>
          <a:xfrm>
            <a:off x="5265390" y="6134100"/>
            <a:ext cx="63930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콘텐츠 유형에 대해 일관된 인터페이스 제공</a:t>
            </a:r>
            <a:endParaRPr lang="en-US" sz="1200" dirty="0"/>
          </a:p>
        </p:txBody>
      </p:sp>
      <p:sp>
        <p:nvSpPr>
          <p:cNvPr id="50" name="Text 22"/>
          <p:cNvSpPr/>
          <p:nvPr/>
        </p:nvSpPr>
        <p:spPr>
          <a:xfrm>
            <a:off x="5265390" y="6362700"/>
            <a:ext cx="63930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 필드에 대한 명확한 하이라이트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37"/>
            <a:ext cx="12192000" cy="70389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" y="2514600"/>
            <a:ext cx="32385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" y="2638425"/>
            <a:ext cx="17145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990" y="33909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" y="351472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990" y="42672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90" y="4391025"/>
            <a:ext cx="152400" cy="1524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300990" y="209550"/>
            <a:ext cx="2423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갤러리 화면 개요</a:t>
            </a:r>
            <a:endParaRPr lang="en-US" sz="2250" dirty="0"/>
          </a:p>
        </p:txBody>
      </p:sp>
      <p:sp>
        <p:nvSpPr>
          <p:cNvPr id="53" name="Text 1"/>
          <p:cNvSpPr/>
          <p:nvPr/>
        </p:nvSpPr>
        <p:spPr>
          <a:xfrm>
            <a:off x="10829925" y="257175"/>
            <a:ext cx="117729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5 / 12</a:t>
            </a:r>
            <a:endParaRPr lang="en-US" sz="1350" dirty="0"/>
          </a:p>
        </p:txBody>
      </p:sp>
      <p:sp>
        <p:nvSpPr>
          <p:cNvPr id="54" name="Text 2"/>
          <p:cNvSpPr/>
          <p:nvPr/>
        </p:nvSpPr>
        <p:spPr>
          <a:xfrm>
            <a:off x="289560" y="1143000"/>
            <a:ext cx="580579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B3F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목적</a:t>
            </a:r>
            <a:endParaRPr lang="en-US" sz="1800" dirty="0"/>
          </a:p>
        </p:txBody>
      </p:sp>
      <p:sp>
        <p:nvSpPr>
          <p:cNvPr id="55" name="Text 3"/>
          <p:cNvSpPr/>
          <p:nvPr/>
        </p:nvSpPr>
        <p:spPr>
          <a:xfrm>
            <a:off x="300990" y="1562100"/>
            <a:ext cx="598551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기반의 게시물을 효율적으로 표시하고, 사용자가 쉽게 탐색할 수 있도록 설계</a:t>
            </a:r>
            <a:endParaRPr lang="en-US" sz="1350" dirty="0"/>
          </a:p>
        </p:txBody>
      </p:sp>
      <p:sp>
        <p:nvSpPr>
          <p:cNvPr id="56" name="Text 4"/>
          <p:cNvSpPr/>
          <p:nvPr/>
        </p:nvSpPr>
        <p:spPr>
          <a:xfrm>
            <a:off x="300990" y="20574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B3F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UI 요소</a:t>
            </a:r>
            <a:endParaRPr lang="en-US" sz="1800" dirty="0"/>
          </a:p>
        </p:txBody>
      </p:sp>
      <p:sp>
        <p:nvSpPr>
          <p:cNvPr id="57" name="Text 5"/>
          <p:cNvSpPr/>
          <p:nvPr/>
        </p:nvSpPr>
        <p:spPr>
          <a:xfrm>
            <a:off x="739140" y="2514600"/>
            <a:ext cx="512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썸네일</a:t>
            </a:r>
            <a:endParaRPr lang="en-US" sz="1500" dirty="0"/>
          </a:p>
        </p:txBody>
      </p:sp>
      <p:sp>
        <p:nvSpPr>
          <p:cNvPr id="58" name="Text 6"/>
          <p:cNvSpPr/>
          <p:nvPr/>
        </p:nvSpPr>
        <p:spPr>
          <a:xfrm>
            <a:off x="739140" y="2781300"/>
            <a:ext cx="5124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게시물의 대표 이미지를 작게 보여주어 한눈에 많은 콘텐츠를 파악할 수 있도록 함</a:t>
            </a:r>
            <a:endParaRPr lang="en-US" sz="1200" dirty="0"/>
          </a:p>
        </p:txBody>
      </p:sp>
      <p:sp>
        <p:nvSpPr>
          <p:cNvPr id="59" name="Text 7"/>
          <p:cNvSpPr/>
          <p:nvPr/>
        </p:nvSpPr>
        <p:spPr>
          <a:xfrm>
            <a:off x="720090" y="33909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페이징</a:t>
            </a:r>
            <a:endParaRPr lang="en-US" sz="1500" dirty="0"/>
          </a:p>
        </p:txBody>
      </p:sp>
      <p:sp>
        <p:nvSpPr>
          <p:cNvPr id="60" name="Text 8"/>
          <p:cNvSpPr/>
          <p:nvPr/>
        </p:nvSpPr>
        <p:spPr>
          <a:xfrm>
            <a:off x="720090" y="36576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많은 수의 게시물을 여러 페이지로 나누어 표시하며, 사용자가 원하는 페이지로 이동할 수 있도록 함</a:t>
            </a:r>
            <a:endParaRPr lang="en-US" sz="1200" dirty="0"/>
          </a:p>
        </p:txBody>
      </p:sp>
      <p:sp>
        <p:nvSpPr>
          <p:cNvPr id="61" name="Text 9"/>
          <p:cNvSpPr/>
          <p:nvPr/>
        </p:nvSpPr>
        <p:spPr>
          <a:xfrm>
            <a:off x="720090" y="4267200"/>
            <a:ext cx="4486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검색/필터</a:t>
            </a:r>
            <a:endParaRPr lang="en-US" sz="1500" dirty="0"/>
          </a:p>
        </p:txBody>
      </p:sp>
      <p:sp>
        <p:nvSpPr>
          <p:cNvPr id="62" name="Text 10"/>
          <p:cNvSpPr/>
          <p:nvPr/>
        </p:nvSpPr>
        <p:spPr>
          <a:xfrm>
            <a:off x="720090" y="4533900"/>
            <a:ext cx="5383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이미지를 찾거나 카테고리별로 이미지를 분류하여 볼 수 있는 기능</a:t>
            </a:r>
            <a:endParaRPr lang="en-US" sz="1200" dirty="0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ADCA2D7D-03F5-836C-FA13-720683A152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491" y="71437"/>
            <a:ext cx="5223510" cy="1243648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BD3DA9DE-1756-78B9-76D8-6BCA1EA186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7490" y="1362655"/>
            <a:ext cx="4953001" cy="9995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8BCAC6-6682-0DCE-8B03-BECD1FEE35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8412" y="2518410"/>
            <a:ext cx="5064876" cy="3439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560" y="1953260"/>
            <a:ext cx="32004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860" y="1991360"/>
            <a:ext cx="238125" cy="1905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문의하기</a:t>
            </a:r>
            <a:r>
              <a:rPr lang="en-US" sz="27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27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</a:t>
            </a:r>
            <a:r>
              <a:rPr lang="en-US" sz="27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정의서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235074" y="876300"/>
            <a:ext cx="103135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사용자가 서비스 이용 중 발생하는 궁금한 사항이나 불편 사항을 효율적으로 접수하고 해결하기 위한 기능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685800" y="335280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8122285" y="1953260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기능 및 로직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7731760" y="237236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필수 입력 항목 유효성 검사: 이름, 문의 유型, 문의 내용이 비어있을 경우 제출 중단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7731760" y="286766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파일 첨부 기능: 클릭하거나 드래그하여 파일 업로드, 크기 및 개수 제한 적용</a:t>
            </a:r>
            <a:endParaRPr lang="en-US" sz="1050" dirty="0"/>
          </a:p>
        </p:txBody>
      </p:sp>
      <p:sp>
        <p:nvSpPr>
          <p:cNvPr id="23" name="Text 11"/>
          <p:cNvSpPr/>
          <p:nvPr/>
        </p:nvSpPr>
        <p:spPr>
          <a:xfrm>
            <a:off x="7731760" y="336296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문의 제출: 모든 검증을 통과하면 문의 내용을 시스템에 제출</a:t>
            </a:r>
            <a:endParaRPr lang="en-US" sz="1050" dirty="0"/>
          </a:p>
        </p:txBody>
      </p:sp>
      <p:sp>
        <p:nvSpPr>
          <p:cNvPr id="24" name="Text 12"/>
          <p:cNvSpPr/>
          <p:nvPr/>
        </p:nvSpPr>
        <p:spPr>
          <a:xfrm>
            <a:off x="7731760" y="385826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성공 메시지: "문의가 성공적으로 접수되었습니다" 표시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7731760" y="435356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관리자 시스템으로 전송: 담당자가 확인하고 답변 준비</a:t>
            </a:r>
            <a:endParaRPr lang="en-US" sz="1050" dirty="0"/>
          </a:p>
        </p:txBody>
      </p:sp>
      <p:sp>
        <p:nvSpPr>
          <p:cNvPr id="27" name="Text 15"/>
          <p:cNvSpPr/>
          <p:nvPr/>
        </p:nvSpPr>
        <p:spPr>
          <a:xfrm>
            <a:off x="8458200" y="2057400"/>
            <a:ext cx="3390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050" dirty="0"/>
          </a:p>
        </p:txBody>
      </p:sp>
      <p:sp>
        <p:nvSpPr>
          <p:cNvPr id="28" name="Text 16"/>
          <p:cNvSpPr/>
          <p:nvPr/>
        </p:nvSpPr>
        <p:spPr>
          <a:xfrm>
            <a:off x="8458200" y="2552700"/>
            <a:ext cx="4069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381000" y="6286500"/>
            <a:ext cx="15419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문의하기 기능 정의서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10548640" y="6286500"/>
            <a:ext cx="15148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작성일: 2025-11-04</a:t>
            </a:r>
            <a:endParaRPr lang="en-US" sz="105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F3E4652-64FE-4601-14A7-6A4217D39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75" y="1344869"/>
            <a:ext cx="7181726" cy="87642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C4B401D-470D-E53B-3FA4-5F7368C56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74" y="2438400"/>
            <a:ext cx="7327652" cy="403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463</Words>
  <Application>Microsoft Office PowerPoint</Application>
  <PresentationFormat>와이드스크린</PresentationFormat>
  <Paragraphs>87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Noto Sans KR</vt:lpstr>
      <vt:lpstr>ui-sans-serif</vt:lpstr>
      <vt:lpstr>Malgun Gothic</vt:lpstr>
      <vt:lpstr>Malgun Gothic Semilight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kimgihyeon</cp:lastModifiedBy>
  <cp:revision>15</cp:revision>
  <dcterms:created xsi:type="dcterms:W3CDTF">2025-11-04T01:15:36Z</dcterms:created>
  <dcterms:modified xsi:type="dcterms:W3CDTF">2025-11-06T07:06:01Z</dcterms:modified>
</cp:coreProperties>
</file>